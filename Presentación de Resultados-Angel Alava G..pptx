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3" r:id="rId9"/>
    <p:sldId id="264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>
        <p:scale>
          <a:sx n="75" d="100"/>
          <a:sy n="75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6250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4180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1869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77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7505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9194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4133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8653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96315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7130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61602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9323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5456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06435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7882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94496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8676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9E353-3C49-4F0E-84AD-DF66B4689E37}" type="datetimeFigureOut">
              <a:rPr lang="es-EC" smtClean="0"/>
              <a:t>30/7/2026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F60F-A635-48EF-9939-CC1B1BA88C3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538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DB3C8-F709-BBF7-54A2-8AD48061A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Anemia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E30A58-05AB-4FB4-FDD6-05A2C3F188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C" dirty="0"/>
              <a:t>Por: Angel Alava G.</a:t>
            </a:r>
          </a:p>
          <a:p>
            <a:r>
              <a:rPr lang="es-EC" dirty="0"/>
              <a:t>Para: LIDE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98653D-2C15-32A5-5B59-CCD5DD0EC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5" y="2635242"/>
            <a:ext cx="1484375" cy="118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5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0284D-34D6-AB46-EC03-57A99FFE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617B41-D7D5-3201-2AFA-DBD7BE84A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045461"/>
            <a:ext cx="10820400" cy="1234440"/>
          </a:xfrm>
        </p:spPr>
        <p:txBody>
          <a:bodyPr>
            <a:normAutofit/>
          </a:bodyPr>
          <a:lstStyle/>
          <a:p>
            <a:pPr lvl="0"/>
            <a:r>
              <a:rPr lang="es-EC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Analizar los factores sociodemográficos, económicos, ambientales y maternos asociados a la prevalencia de anemia en niños ecuatorianos de 6 a 59 meses, utilizando datos de la Encuesta Nacional sobre Desnutrición Infantil (ENDI 2023).</a:t>
            </a:r>
          </a:p>
        </p:txBody>
      </p:sp>
    </p:spTree>
    <p:extLst>
      <p:ext uri="{BB962C8B-B14F-4D97-AF65-F5344CB8AC3E}">
        <p14:creationId xmlns:p14="http://schemas.microsoft.com/office/powerpoint/2010/main" val="108478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EC85-E812-3D5F-1B9A-1ACC5028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2EEE9-15F0-D2CF-12CE-083CC3FE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7C2686-B4DF-47C9-9195-17F92B42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datos: ENDI 2023 </a:t>
            </a:r>
          </a:p>
          <a:p>
            <a:pPr lvl="0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dependiente: Anemia (Sí/No) </a:t>
            </a:r>
          </a:p>
          <a:p>
            <a:pPr lvl="0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grupos de análisis: </a:t>
            </a:r>
          </a:p>
          <a:p>
            <a:pPr lvl="1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6–23 meses </a:t>
            </a:r>
          </a:p>
          <a:p>
            <a:pPr lvl="1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24–59 meses </a:t>
            </a:r>
          </a:p>
          <a:p>
            <a:pPr lvl="0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Método: </a:t>
            </a:r>
          </a:p>
          <a:p>
            <a:pPr lvl="1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descriptivo </a:t>
            </a:r>
          </a:p>
          <a:p>
            <a:pPr lvl="1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de Poisson </a:t>
            </a:r>
            <a:r>
              <a:rPr lang="es-EC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bivariada</a:t>
            </a: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multivariada (Poisson robusta)</a:t>
            </a:r>
          </a:p>
          <a:p>
            <a:pPr marL="0" indent="0">
              <a:buNone/>
            </a:pP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Encuesta Nacional sobre Desnutrición Infantil |">
            <a:extLst>
              <a:ext uri="{FF2B5EF4-FFF2-40B4-BE49-F238E27FC236}">
                <a16:creationId xmlns:a16="http://schemas.microsoft.com/office/drawing/2014/main" id="{E8BB3493-9450-B098-C524-7501B876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35" y="2957329"/>
            <a:ext cx="5284572" cy="188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0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E48CA-043F-6F0C-12D1-08ABA879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</a:t>
            </a:r>
            <a:r>
              <a:rPr lang="es-EC" dirty="0"/>
              <a:t> </a:t>
            </a:r>
            <a:r>
              <a:rPr lang="es-EC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CE155A1-CC9C-0BC4-C368-A91720428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55326"/>
              </p:ext>
            </p:extLst>
          </p:nvPr>
        </p:nvGraphicFramePr>
        <p:xfrm>
          <a:off x="2333976" y="1917701"/>
          <a:ext cx="7524047" cy="4024322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911085">
                  <a:extLst>
                    <a:ext uri="{9D8B030D-6E8A-4147-A177-3AD203B41FA5}">
                      <a16:colId xmlns:a16="http://schemas.microsoft.com/office/drawing/2014/main" val="1641366636"/>
                    </a:ext>
                  </a:extLst>
                </a:gridCol>
                <a:gridCol w="911085">
                  <a:extLst>
                    <a:ext uri="{9D8B030D-6E8A-4147-A177-3AD203B41FA5}">
                      <a16:colId xmlns:a16="http://schemas.microsoft.com/office/drawing/2014/main" val="2068506229"/>
                    </a:ext>
                  </a:extLst>
                </a:gridCol>
                <a:gridCol w="1123673">
                  <a:extLst>
                    <a:ext uri="{9D8B030D-6E8A-4147-A177-3AD203B41FA5}">
                      <a16:colId xmlns:a16="http://schemas.microsoft.com/office/drawing/2014/main" val="1280384197"/>
                    </a:ext>
                  </a:extLst>
                </a:gridCol>
                <a:gridCol w="1036360">
                  <a:extLst>
                    <a:ext uri="{9D8B030D-6E8A-4147-A177-3AD203B41FA5}">
                      <a16:colId xmlns:a16="http://schemas.microsoft.com/office/drawing/2014/main" val="3501079113"/>
                    </a:ext>
                  </a:extLst>
                </a:gridCol>
                <a:gridCol w="1810783">
                  <a:extLst>
                    <a:ext uri="{9D8B030D-6E8A-4147-A177-3AD203B41FA5}">
                      <a16:colId xmlns:a16="http://schemas.microsoft.com/office/drawing/2014/main" val="308163193"/>
                    </a:ext>
                  </a:extLst>
                </a:gridCol>
                <a:gridCol w="1731061">
                  <a:extLst>
                    <a:ext uri="{9D8B030D-6E8A-4147-A177-3AD203B41FA5}">
                      <a16:colId xmlns:a16="http://schemas.microsoft.com/office/drawing/2014/main" val="1581859449"/>
                    </a:ext>
                  </a:extLst>
                </a:gridCol>
              </a:tblGrid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Variable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 err="1">
                          <a:effectLst/>
                        </a:rPr>
                        <a:t>Categoria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n_24-59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n_6-23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Porcentaje_24-59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Porcentaje_6-23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extLst>
                  <a:ext uri="{0D108BD9-81ED-4DB2-BD59-A6C34878D82A}">
                    <a16:rowId xmlns:a16="http://schemas.microsoft.com/office/drawing/2014/main" val="2236458986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anemia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876015966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15579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6854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83.3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75.3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870019794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3113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2247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16.7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24.7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2296304526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sexo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709912090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Hombre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9551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4593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51.1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50.5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1197744542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Mujer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9141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4508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48.9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49.5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3520357144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etnia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3561308259"/>
                  </a:ext>
                </a:extLst>
              </a:tr>
              <a:tr h="3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Afroecuatoriana/o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797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392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4.3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4.3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3350644180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Blanca/o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224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125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1.2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1.4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4033828138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Indígena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2571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1310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13.8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14.4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3380979596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Mestiza/o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14560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7007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77.9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922441574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Montubia/o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540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267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2.9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2.9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2443307501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area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109257495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Rural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7481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3759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41.3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650618380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Urbano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11211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5342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60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58.7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4053148469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quintil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3685896000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3966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2263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21.3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24.9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473195395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3621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1767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19.5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19.5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1027550314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3314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1646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17.8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18.1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2956128134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3614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1570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19.4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17.3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449425261"/>
                  </a:ext>
                </a:extLst>
              </a:tr>
              <a:tr h="1764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4074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1825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21.9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20.1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b"/>
                </a:tc>
                <a:extLst>
                  <a:ext uri="{0D108BD9-81ED-4DB2-BD59-A6C34878D82A}">
                    <a16:rowId xmlns:a16="http://schemas.microsoft.com/office/drawing/2014/main" val="874456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42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DC4285A-1F8E-2CD6-365B-B756380E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38942"/>
              </p:ext>
            </p:extLst>
          </p:nvPr>
        </p:nvGraphicFramePr>
        <p:xfrm>
          <a:off x="2123304" y="1368210"/>
          <a:ext cx="7945392" cy="5006112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962106">
                  <a:extLst>
                    <a:ext uri="{9D8B030D-6E8A-4147-A177-3AD203B41FA5}">
                      <a16:colId xmlns:a16="http://schemas.microsoft.com/office/drawing/2014/main" val="433793698"/>
                    </a:ext>
                  </a:extLst>
                </a:gridCol>
                <a:gridCol w="962106">
                  <a:extLst>
                    <a:ext uri="{9D8B030D-6E8A-4147-A177-3AD203B41FA5}">
                      <a16:colId xmlns:a16="http://schemas.microsoft.com/office/drawing/2014/main" val="449525628"/>
                    </a:ext>
                  </a:extLst>
                </a:gridCol>
                <a:gridCol w="1186598">
                  <a:extLst>
                    <a:ext uri="{9D8B030D-6E8A-4147-A177-3AD203B41FA5}">
                      <a16:colId xmlns:a16="http://schemas.microsoft.com/office/drawing/2014/main" val="3084164878"/>
                    </a:ext>
                  </a:extLst>
                </a:gridCol>
                <a:gridCol w="1094395">
                  <a:extLst>
                    <a:ext uri="{9D8B030D-6E8A-4147-A177-3AD203B41FA5}">
                      <a16:colId xmlns:a16="http://schemas.microsoft.com/office/drawing/2014/main" val="1989114519"/>
                    </a:ext>
                  </a:extLst>
                </a:gridCol>
                <a:gridCol w="1912185">
                  <a:extLst>
                    <a:ext uri="{9D8B030D-6E8A-4147-A177-3AD203B41FA5}">
                      <a16:colId xmlns:a16="http://schemas.microsoft.com/office/drawing/2014/main" val="592858727"/>
                    </a:ext>
                  </a:extLst>
                </a:gridCol>
                <a:gridCol w="1828002">
                  <a:extLst>
                    <a:ext uri="{9D8B030D-6E8A-4147-A177-3AD203B41FA5}">
                      <a16:colId xmlns:a16="http://schemas.microsoft.com/office/drawing/2014/main" val="1133153759"/>
                    </a:ext>
                  </a:extLst>
                </a:gridCol>
              </a:tblGrid>
              <a:tr h="270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Variable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 err="1">
                          <a:effectLst/>
                        </a:rPr>
                        <a:t>Categoria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n_24-59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n_6-23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Porcentaje_24-59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Porcentaje_6-23 meses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21" marR="8821" marT="8821" marB="0" anchor="ctr"/>
                </a:tc>
                <a:extLst>
                  <a:ext uri="{0D108BD9-81ED-4DB2-BD59-A6C34878D82A}">
                    <a16:rowId xmlns:a16="http://schemas.microsoft.com/office/drawing/2014/main" val="424027520"/>
                  </a:ext>
                </a:extLst>
              </a:tr>
              <a:tr h="20591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 dirty="0" err="1">
                          <a:effectLst/>
                        </a:rPr>
                        <a:t>disp_alimentos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479781791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No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13251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6168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71.1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68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2096422317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Si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5382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2902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28.9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327466514"/>
                  </a:ext>
                </a:extLst>
              </a:tr>
              <a:tr h="20591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 dirty="0" err="1">
                          <a:effectLst/>
                        </a:rPr>
                        <a:t>edad_madre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3263041804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13 -20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1636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1404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8.9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15.5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3896019963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21 - 28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7108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3699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38.6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40.8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3172037129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29 - 36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6135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2741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33.3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30.2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2067310063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37 - 44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3012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1129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16.4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12.5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445488871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mas de 44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505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92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2.7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1.0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20038159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total_hijos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 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846970982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4043731552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5126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2987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28.2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33.1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092759519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27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6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0.1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0.1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883606123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10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0.1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0.1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113693080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5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707893010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6267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3024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34.4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33.5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06733543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3718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1671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20.4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18.5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3660761937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1572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694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8.6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7.7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1250916876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733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318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3.5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2158281014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6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377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148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2.1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1.6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2612137398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187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102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1.1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2165451679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8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121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44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0.7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0.5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3769759533"/>
                  </a:ext>
                </a:extLst>
              </a:tr>
              <a:tr h="2059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 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50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19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0.3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0.2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49" marR="8749" marT="8749" marB="0" anchor="b"/>
                </a:tc>
                <a:extLst>
                  <a:ext uri="{0D108BD9-81ED-4DB2-BD59-A6C34878D82A}">
                    <a16:rowId xmlns:a16="http://schemas.microsoft.com/office/drawing/2014/main" val="484539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14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5872B-6C7F-4D86-BC25-266C2F8D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Bivariados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E42CEA-A27E-2350-8480-EFA0040E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10" y="3010470"/>
            <a:ext cx="3052753" cy="276643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r>
              <a:rPr lang="es-EC" dirty="0"/>
              <a:t>Para los niños de 6 a 23 meses: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91B4FB-460D-9469-217C-A7EE27065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2855" y="3010470"/>
            <a:ext cx="3287283" cy="276643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r>
              <a:rPr lang="es-EC" dirty="0"/>
              <a:t>Para los niños de 24 a 59 meses: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4498144-F27F-3CE9-B0F1-DB0C70827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38762" y="3523277"/>
            <a:ext cx="2835876" cy="3086019"/>
          </a:xfrm>
        </p:spPr>
        <p:txBody>
          <a:bodyPr>
            <a:normAutofit fontScale="62500" lnSpcReduction="20000"/>
          </a:bodyPr>
          <a:lstStyle/>
          <a:p>
            <a:pPr lvl="0">
              <a:spcBef>
                <a:spcPts val="600"/>
              </a:spcBef>
            </a:pPr>
            <a:r>
              <a:rPr lang="es-EC" dirty="0"/>
              <a:t>Sexo 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Etnia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Quintil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Fuente de agua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Saneamiento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Material de paredes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Disponibilidad de alimentos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Edad de la madre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Total de hijos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Lugar del parto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DA2E584-5A58-FE0F-F66A-AF4D5D1CD38D}"/>
              </a:ext>
            </a:extLst>
          </p:cNvPr>
          <p:cNvSpPr txBox="1">
            <a:spLocks/>
          </p:cNvSpPr>
          <p:nvPr/>
        </p:nvSpPr>
        <p:spPr>
          <a:xfrm>
            <a:off x="493712" y="1927752"/>
            <a:ext cx="10860088" cy="1406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realizar el análisis bivariado de anemia con el resto de variables para elegir cuales podrán ser usadas para la regresión (usando el criterio de p&lt; 0.20) , tenemos que: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5888E00-3090-7C51-1C2A-99B2B2879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4964" y="3412066"/>
            <a:ext cx="3218935" cy="3086019"/>
          </a:xfrm>
        </p:spPr>
        <p:txBody>
          <a:bodyPr>
            <a:normAutofit fontScale="62500" lnSpcReduction="20000"/>
          </a:bodyPr>
          <a:lstStyle/>
          <a:p>
            <a:pPr lvl="0">
              <a:spcBef>
                <a:spcPts val="600"/>
              </a:spcBef>
            </a:pPr>
            <a:r>
              <a:rPr lang="es-EC" dirty="0"/>
              <a:t>Sexo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Área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Etnia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Quintil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Fuente de agua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Saneamiento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Material de paredes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Disponibilidad de alimentos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Edad de la madre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Total de hijos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Lugar del parto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Consumo de hierro de la madre </a:t>
            </a:r>
          </a:p>
          <a:p>
            <a:pPr lvl="0">
              <a:spcBef>
                <a:spcPts val="600"/>
              </a:spcBef>
            </a:pPr>
            <a:r>
              <a:rPr lang="es-EC" dirty="0"/>
              <a:t>Lactancia</a:t>
            </a:r>
          </a:p>
        </p:txBody>
      </p:sp>
    </p:spTree>
    <p:extLst>
      <p:ext uri="{BB962C8B-B14F-4D97-AF65-F5344CB8AC3E}">
        <p14:creationId xmlns:p14="http://schemas.microsoft.com/office/powerpoint/2010/main" val="366244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48F1290-F74E-1279-9E5C-A3398FF2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32A00A8-999F-0E51-33AA-461814053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5195486"/>
            <a:ext cx="10820400" cy="1293028"/>
          </a:xfrm>
        </p:spPr>
        <p:txBody>
          <a:bodyPr>
            <a:normAutofit/>
          </a:bodyPr>
          <a:lstStyle/>
          <a:p>
            <a:r>
              <a:rPr lang="es-EC" dirty="0"/>
              <a:t>Siguiendo una distribución </a:t>
            </a:r>
            <a:r>
              <a:rPr lang="es-EC" dirty="0" err="1"/>
              <a:t>poisson</a:t>
            </a:r>
            <a:r>
              <a:rPr lang="es-EC" dirty="0"/>
              <a:t> para hacer la regresión los resultados para ambos grupos fueron  los siguientes: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1F800FF-4993-8A7D-1A76-080CC6C0A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83" y="1912761"/>
            <a:ext cx="3267531" cy="30674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B6B5B97-110E-4660-F835-E7941948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929" y="1849260"/>
            <a:ext cx="3162741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6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03301D7-3F05-BB06-A35E-7F3857FCA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97409"/>
              </p:ext>
            </p:extLst>
          </p:nvPr>
        </p:nvGraphicFramePr>
        <p:xfrm>
          <a:off x="1790700" y="495300"/>
          <a:ext cx="8547101" cy="6323800"/>
        </p:xfrm>
        <a:graphic>
          <a:graphicData uri="http://schemas.openxmlformats.org/drawingml/2006/table">
            <a:tbl>
              <a:tblPr/>
              <a:tblGrid>
                <a:gridCol w="6042387">
                  <a:extLst>
                    <a:ext uri="{9D8B030D-6E8A-4147-A177-3AD203B41FA5}">
                      <a16:colId xmlns:a16="http://schemas.microsoft.com/office/drawing/2014/main" val="4080429362"/>
                    </a:ext>
                  </a:extLst>
                </a:gridCol>
                <a:gridCol w="561064">
                  <a:extLst>
                    <a:ext uri="{9D8B030D-6E8A-4147-A177-3AD203B41FA5}">
                      <a16:colId xmlns:a16="http://schemas.microsoft.com/office/drawing/2014/main" val="4149837550"/>
                    </a:ext>
                  </a:extLst>
                </a:gridCol>
                <a:gridCol w="561064">
                  <a:extLst>
                    <a:ext uri="{9D8B030D-6E8A-4147-A177-3AD203B41FA5}">
                      <a16:colId xmlns:a16="http://schemas.microsoft.com/office/drawing/2014/main" val="1791881805"/>
                    </a:ext>
                  </a:extLst>
                </a:gridCol>
                <a:gridCol w="648531">
                  <a:extLst>
                    <a:ext uri="{9D8B030D-6E8A-4147-A177-3AD203B41FA5}">
                      <a16:colId xmlns:a16="http://schemas.microsoft.com/office/drawing/2014/main" val="4251379370"/>
                    </a:ext>
                  </a:extLst>
                </a:gridCol>
                <a:gridCol w="734055">
                  <a:extLst>
                    <a:ext uri="{9D8B030D-6E8A-4147-A177-3AD203B41FA5}">
                      <a16:colId xmlns:a16="http://schemas.microsoft.com/office/drawing/2014/main" val="2358969675"/>
                    </a:ext>
                  </a:extLst>
                </a:gridCol>
              </a:tblGrid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x2.5..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X97.5..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P_Value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003093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(</a:t>
                      </a: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Intercept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)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46792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sexoMujer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687057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etniaAfroecuatoriana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2.385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444735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etniaMontubia/o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29356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etniaMestiza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522784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etniaBlanca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64817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areaRural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63944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quintil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73630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f_aguaJuntas de Agua/Organizaciones comunitarias/GAD parroquial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06511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f_aguaPozo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2.147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4605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f_aguaCarro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o tanquero repartidor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457944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f_aguaOtras fuentes (río, vertiente, acequia, canal, grieta o agua lluvia)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1.437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170966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saneamientoconectado a pozo séptico?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1.505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31026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saneamientoconectado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a biodigestor?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9802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saneamientoconectado a pozo ciego?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1.589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573779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 descarga directa al mar, río, lago o quebrada?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459625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saneamientoLetrina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?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1.507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403855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saneamientoNo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tiene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15167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material_paredLadrillo o bloque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56468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material_paredPanel prefabricado (yeso, fibrocemento, etc.)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4.709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073296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material_paredAdobe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o tapia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1.447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276299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material_paredMadera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3.155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976449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material_paredCaña revestida o bahareque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3.496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8.256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25203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material_paredCaña no revestida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2.444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5.269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36009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material_paredOtro, cuál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270162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disp_alimentosNo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78054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edad_madre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0.944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42266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total_hijos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1.084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08480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lugar_partoHospital/Clínica/Dispensario del IESS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19198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lugar_partoSeguro Social Campesino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0.591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64274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lugar_partoHospital FF.AA/ Policía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3.482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36964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lugar_partoJunta de Beneficencia*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356938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lugar_partoConsejo Provincial/Unidad Municipalde Salud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5773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lugar_partoFundación/ ONG**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155635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lugar_partoClínica/Consultorio privado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1.271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6698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lugar_partoEn casa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0.079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53896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lugar_partoOtro, Cuál?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0.382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347491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consumo_he_madreTRUE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1.475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873725"/>
                  </a:ext>
                </a:extLst>
              </a:tr>
              <a:tr h="15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amamantoTRUE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5" marR="5695" marT="569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9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61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20424-94C0-BB51-4DFF-0E3ED3FB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los niños de 6 – 23 meses: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4689F2-8AE5-84F5-514B-2A4CFCC59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EC" dirty="0"/>
              <a:t>Las niñas presentaron una 17.1% menor prevalencia de anemia que los niños </a:t>
            </a:r>
          </a:p>
          <a:p>
            <a:r>
              <a:rPr lang="es-EC" dirty="0"/>
              <a:t>Los niños afroecuatorianos tuvieron una prevalencia de anemia 71.6% mayor </a:t>
            </a:r>
          </a:p>
          <a:p>
            <a:r>
              <a:rPr lang="es-EC" dirty="0"/>
              <a:t>Los niños montubios presentaron una prevalencia 42.6% mayor , aunque la evidencia es marginal.</a:t>
            </a:r>
          </a:p>
          <a:p>
            <a:r>
              <a:rPr lang="es-EC" dirty="0"/>
              <a:t>Consumir agua de pozo se asoció con una prevalencia de anemia 58.2% mayor </a:t>
            </a:r>
          </a:p>
          <a:p>
            <a:pPr lvl="0"/>
            <a:r>
              <a:rPr lang="es-EC" dirty="0"/>
              <a:t>Edad de la madre: Cada año adicional de edad de la madre se asoció con una reducción del 0.6% en la prevalencia de anemia </a:t>
            </a:r>
          </a:p>
          <a:p>
            <a:pPr lvl="0"/>
            <a:r>
              <a:rPr lang="es-EC" dirty="0"/>
              <a:t>Número de hijos: Por cada hijo adicional, la prevalencia de anemia aumentó un 15.9% </a:t>
            </a:r>
          </a:p>
          <a:p>
            <a:pPr lvl="0"/>
            <a:r>
              <a:rPr lang="es-EC" dirty="0"/>
              <a:t>Consumo de hierro durante el embarazo: Los hijos de madres que consumieron hierro presentaron una prevalencia de anemia 47.5% mayor </a:t>
            </a:r>
          </a:p>
          <a:p>
            <a:pPr lvl="0"/>
            <a:r>
              <a:rPr lang="es-EC" dirty="0"/>
              <a:t>Este resultado es estadísticamente significativo, pero debe interpretarse con cautela, ya que puede reflejar que el suplemento fue indicado a madres con mayor riesgo o anemia durante el embarazo (confusión por indicación), y no necesariamente un efecto causal del hierro.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9562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BFB25F9-7811-377F-9501-A3EF4BC1A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39068"/>
              </p:ext>
            </p:extLst>
          </p:nvPr>
        </p:nvGraphicFramePr>
        <p:xfrm>
          <a:off x="1358900" y="657225"/>
          <a:ext cx="9474199" cy="5968991"/>
        </p:xfrm>
        <a:graphic>
          <a:graphicData uri="http://schemas.openxmlformats.org/drawingml/2006/table">
            <a:tbl>
              <a:tblPr/>
              <a:tblGrid>
                <a:gridCol w="6207065">
                  <a:extLst>
                    <a:ext uri="{9D8B030D-6E8A-4147-A177-3AD203B41FA5}">
                      <a16:colId xmlns:a16="http://schemas.microsoft.com/office/drawing/2014/main" val="1784874090"/>
                    </a:ext>
                  </a:extLst>
                </a:gridCol>
                <a:gridCol w="649086">
                  <a:extLst>
                    <a:ext uri="{9D8B030D-6E8A-4147-A177-3AD203B41FA5}">
                      <a16:colId xmlns:a16="http://schemas.microsoft.com/office/drawing/2014/main" val="353606335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580415409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1711323085"/>
                    </a:ext>
                  </a:extLst>
                </a:gridCol>
                <a:gridCol w="936568">
                  <a:extLst>
                    <a:ext uri="{9D8B030D-6E8A-4147-A177-3AD203B41FA5}">
                      <a16:colId xmlns:a16="http://schemas.microsoft.com/office/drawing/2014/main" val="1180047586"/>
                    </a:ext>
                  </a:extLst>
                </a:gridCol>
              </a:tblGrid>
              <a:tr h="173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P_value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X.2.5..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X.97.5..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77499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(</a:t>
                      </a: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Intercept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)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0.025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0.196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03781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sexoMujer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0.863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0.032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0.755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0.987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87706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etniaAfroecuatoriana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2.621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1.936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3.548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127161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etniaMontubia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2.231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1.627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3.061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880133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etniaMestiza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1.704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1.338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421494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etniaBlanca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/o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1.097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0.814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0.506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2.377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76146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quintil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0.934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0.883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0.988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313314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f_aguaJuntas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de Agua/Organizaciones comunitarias/GAD parroquial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0.925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0.498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0.738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1.159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838502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f_aguaPozo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1.129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0.364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0.869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1.467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048303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f_aguaCarro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o tanquero repartidor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0.552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0.117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0.263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1.159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92903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f_aguaOtras fuentes (río, vertiente, acequia, canal, grieta o agua lluvia)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1.038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0.783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0.794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1.359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625887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saneamientoconectado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a pozo séptico?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1.149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0.227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1.44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5981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saneamientoconectado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a biodigestor?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1.793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0.293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0.604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5.322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83366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saneamientoconectado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a pozo ciego?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1.115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0.598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0.743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1.674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312749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saneamientocon descarga directa al mar, río, lago o quebrada?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0.891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0.61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0.573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1.386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0279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saneamientoLetrina?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1.677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0.021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2.606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11424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saneamientoNo tiene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1.103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0.492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0.833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1.46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89558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material_paredLadrillo</a:t>
                      </a: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 o bloque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2.543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0.042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1.036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6.244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970078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material_paredPanel prefabricado (yeso, fibrocemento, etc.)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4.817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0.007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1.548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14.987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8640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material_paredAdobe o tapia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1.501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0.464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0.506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4.456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412165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material_paredMadera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3.389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1.335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8.6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57119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material_paredCaña revestida o bahareque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2.563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0.099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0.838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7.836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7772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material_paredCaña no revestida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2.636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1.044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6.653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962436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material_paredOtro, cuál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5.994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0.001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2.156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16.667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841513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disp_alimentosNo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0.825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0.016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0.705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0.964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558343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edad_madre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0.987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0.042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0.974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87957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total_hijos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1.089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1.038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1.142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00907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lugar_partoHospital/Clínica/Dispensario del IESS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0.962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0.716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1.294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592595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lugar_partoSeguro Social Campesino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1.394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0.377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0.667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2.914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82443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lugar_partoHospital FF.AA/ Policía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0.298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0.147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0.058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1.534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5556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lugar_partoJunta de Beneficencia*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0.195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0.024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0.047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0.807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834538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lugar_partoConsejo Provincial/Unidad Municipalde Salud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0.073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0.002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0.014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0.377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26691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lugar_partoFundación/ ONG**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0.924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0.895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0.288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2.966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119258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lugar_partoClínica/Consultorio privado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0.949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0.572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0.791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1.138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423268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lugar_partoEn casa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1.206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0.081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0.977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1.489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027798"/>
                  </a:ext>
                </a:extLst>
              </a:tr>
              <a:tr h="1609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lugar_partoOtro, Cuál?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0.738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0.241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0.445</a:t>
                      </a:r>
                      <a:endParaRPr lang="es-EC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1.226</a:t>
                      </a:r>
                      <a:endParaRPr lang="es-EC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15" marR="6615" marT="661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39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49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570BD-0ABF-6BAD-787F-4723086E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los niños de 24 – 59 meses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800158-705D-B0E1-26D9-67A344949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C" dirty="0"/>
              <a:t>Las niñas presentan 13.7% menor prevalencia de anemia que los niños, controlando por las demás variables.</a:t>
            </a:r>
          </a:p>
          <a:p>
            <a:r>
              <a:rPr lang="es-EC" dirty="0"/>
              <a:t>Los niños afroecuatorianos tienen 2.62 veces mayor prevalencia de anemia respecto al grupo de referencia. Es uno de los factores de mayor efecto.</a:t>
            </a:r>
          </a:p>
          <a:p>
            <a:r>
              <a:rPr lang="es-EC" dirty="0"/>
              <a:t>Por cada aumento de un quintil de riqueza, la prevalencia de anemia disminuye 6.6%. Un mayor nivel socioeconómico actúa como factor protector.</a:t>
            </a:r>
          </a:p>
          <a:p>
            <a:r>
              <a:rPr lang="es-EC" dirty="0"/>
              <a:t>Los hogares que utilizan letrina presentan 67.7% mayor prevalencia de anemia que la categoría de referencia.</a:t>
            </a:r>
          </a:p>
          <a:p>
            <a:r>
              <a:rPr lang="es-EC" dirty="0"/>
              <a:t>Cada año adicional de edad materna reduce aproximadamente 1.3% la prevalencia de anemia. Es un efecto protector pequeño pero significativo.</a:t>
            </a:r>
          </a:p>
          <a:p>
            <a:r>
              <a:rPr lang="es-EC" dirty="0"/>
              <a:t>Cada hijo adicional incrementa la prevalencia de anemia en aproximadamente 8.9%.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5958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69EEA-7B6E-2082-7442-64157FDF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7324EF-286B-E2A8-F86A-8266F2DC0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C" sz="1800" dirty="0"/>
              <a:t>Los factores socioeconómicos y del hogar son los principales determinantes de la anemia infantil, destacando el quintil de ingresos, el material de la vivienda y el tipo de saneamiento. </a:t>
            </a:r>
          </a:p>
          <a:p>
            <a:pPr lvl="0"/>
            <a:r>
              <a:rPr lang="es-EC" sz="1800" dirty="0"/>
              <a:t>La edad de la madre y el número de hijos influyen significativamente: madres de mayor edad se asocian con menor prevalencia de anemia, mientras que un mayor número de hijos aumenta el riesgo. </a:t>
            </a:r>
          </a:p>
          <a:p>
            <a:pPr lvl="0"/>
            <a:r>
              <a:rPr lang="es-EC" sz="1800" dirty="0"/>
              <a:t>Las intervenciones de salud evaluadas (controles prenatales, consumo de hierro y lactancia) no mostraron una asociación significativa, por lo que la anemia parece estar más relacionada con las condiciones sociales y económicas de los hogares.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036313039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374</TotalTime>
  <Words>1665</Words>
  <Application>Microsoft Office PowerPoint</Application>
  <PresentationFormat>Panorámica</PresentationFormat>
  <Paragraphs>724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Lucida Console</vt:lpstr>
      <vt:lpstr>Times New Roman</vt:lpstr>
      <vt:lpstr>Estela de condensación</vt:lpstr>
      <vt:lpstr>Análisis de Anemia</vt:lpstr>
      <vt:lpstr>Objetivo</vt:lpstr>
      <vt:lpstr>Metodología</vt:lpstr>
      <vt:lpstr>Análisis Descriptivo</vt:lpstr>
      <vt:lpstr>Presentación de PowerPoint</vt:lpstr>
      <vt:lpstr>Resultados Bivariados</vt:lpstr>
      <vt:lpstr>Resultados</vt:lpstr>
      <vt:lpstr>Presentación de PowerPoint</vt:lpstr>
      <vt:lpstr>Para los niños de 6 – 23 meses:</vt:lpstr>
      <vt:lpstr>Presentación de PowerPoint</vt:lpstr>
      <vt:lpstr>Para los niños de 24 – 59 meses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Abel Alava Gonzalez</dc:creator>
  <cp:lastModifiedBy>Angel Abel Alava Gonzalez</cp:lastModifiedBy>
  <cp:revision>2</cp:revision>
  <dcterms:created xsi:type="dcterms:W3CDTF">2026-07-30T00:09:19Z</dcterms:created>
  <dcterms:modified xsi:type="dcterms:W3CDTF">2026-07-30T16:49:29Z</dcterms:modified>
</cp:coreProperties>
</file>